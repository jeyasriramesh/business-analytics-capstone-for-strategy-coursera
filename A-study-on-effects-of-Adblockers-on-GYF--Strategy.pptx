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78" r:id="rId3"/>
    <p:sldId id="294" r:id="rId4"/>
    <p:sldId id="295" r:id="rId5"/>
    <p:sldId id="269" r:id="rId6"/>
    <p:sldId id="293" r:id="rId7"/>
  </p:sldIdLst>
  <p:sldSz cx="10058400" cy="7772400"/>
  <p:notesSz cx="6858000" cy="9144000"/>
  <p:defaultTextStyle>
    <a:defPPr>
      <a:defRPr lang="en-US"/>
    </a:defPPr>
    <a:lvl1pPr marL="0" algn="l" defTabSz="1018824" rtl="0" eaLnBrk="1" latinLnBrk="0" hangingPunct="1">
      <a:defRPr sz="2006" kern="1200">
        <a:solidFill>
          <a:schemeClr val="tx1"/>
        </a:solidFill>
        <a:latin typeface="+mn-lt"/>
        <a:ea typeface="+mn-ea"/>
        <a:cs typeface="+mn-cs"/>
      </a:defRPr>
    </a:lvl1pPr>
    <a:lvl2pPr marL="509412" algn="l" defTabSz="1018824" rtl="0" eaLnBrk="1" latinLnBrk="0" hangingPunct="1">
      <a:defRPr sz="2006" kern="1200">
        <a:solidFill>
          <a:schemeClr val="tx1"/>
        </a:solidFill>
        <a:latin typeface="+mn-lt"/>
        <a:ea typeface="+mn-ea"/>
        <a:cs typeface="+mn-cs"/>
      </a:defRPr>
    </a:lvl2pPr>
    <a:lvl3pPr marL="1018824" algn="l" defTabSz="1018824" rtl="0" eaLnBrk="1" latinLnBrk="0" hangingPunct="1">
      <a:defRPr sz="2006" kern="1200">
        <a:solidFill>
          <a:schemeClr val="tx1"/>
        </a:solidFill>
        <a:latin typeface="+mn-lt"/>
        <a:ea typeface="+mn-ea"/>
        <a:cs typeface="+mn-cs"/>
      </a:defRPr>
    </a:lvl3pPr>
    <a:lvl4pPr marL="1528237" algn="l" defTabSz="1018824" rtl="0" eaLnBrk="1" latinLnBrk="0" hangingPunct="1">
      <a:defRPr sz="2006" kern="1200">
        <a:solidFill>
          <a:schemeClr val="tx1"/>
        </a:solidFill>
        <a:latin typeface="+mn-lt"/>
        <a:ea typeface="+mn-ea"/>
        <a:cs typeface="+mn-cs"/>
      </a:defRPr>
    </a:lvl4pPr>
    <a:lvl5pPr marL="2037649" algn="l" defTabSz="1018824" rtl="0" eaLnBrk="1" latinLnBrk="0" hangingPunct="1">
      <a:defRPr sz="2006" kern="1200">
        <a:solidFill>
          <a:schemeClr val="tx1"/>
        </a:solidFill>
        <a:latin typeface="+mn-lt"/>
        <a:ea typeface="+mn-ea"/>
        <a:cs typeface="+mn-cs"/>
      </a:defRPr>
    </a:lvl5pPr>
    <a:lvl6pPr marL="2547061" algn="l" defTabSz="1018824" rtl="0" eaLnBrk="1" latinLnBrk="0" hangingPunct="1">
      <a:defRPr sz="2006" kern="1200">
        <a:solidFill>
          <a:schemeClr val="tx1"/>
        </a:solidFill>
        <a:latin typeface="+mn-lt"/>
        <a:ea typeface="+mn-ea"/>
        <a:cs typeface="+mn-cs"/>
      </a:defRPr>
    </a:lvl6pPr>
    <a:lvl7pPr marL="3056473" algn="l" defTabSz="1018824" rtl="0" eaLnBrk="1" latinLnBrk="0" hangingPunct="1">
      <a:defRPr sz="2006" kern="1200">
        <a:solidFill>
          <a:schemeClr val="tx1"/>
        </a:solidFill>
        <a:latin typeface="+mn-lt"/>
        <a:ea typeface="+mn-ea"/>
        <a:cs typeface="+mn-cs"/>
      </a:defRPr>
    </a:lvl7pPr>
    <a:lvl8pPr marL="3565886" algn="l" defTabSz="1018824" rtl="0" eaLnBrk="1" latinLnBrk="0" hangingPunct="1">
      <a:defRPr sz="2006" kern="1200">
        <a:solidFill>
          <a:schemeClr val="tx1"/>
        </a:solidFill>
        <a:latin typeface="+mn-lt"/>
        <a:ea typeface="+mn-ea"/>
        <a:cs typeface="+mn-cs"/>
      </a:defRPr>
    </a:lvl8pPr>
    <a:lvl9pPr marL="4075298" algn="l" defTabSz="1018824" rtl="0" eaLnBrk="1" latinLnBrk="0" hangingPunct="1">
      <a:defRPr sz="200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79" autoAdjust="0"/>
    <p:restoredTop sz="94660"/>
  </p:normalViewPr>
  <p:slideViewPr>
    <p:cSldViewPr snapToGrid="0">
      <p:cViewPr varScale="1">
        <p:scale>
          <a:sx n="79" d="100"/>
          <a:sy n="79" d="100"/>
        </p:scale>
        <p:origin x="1133" y="67"/>
      </p:cViewPr>
      <p:guideLst>
        <p:guide orient="horz" pos="2448"/>
        <p:guide pos="31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1"/>
            <a:ext cx="8549640" cy="2705947"/>
          </a:xfrm>
        </p:spPr>
        <p:txBody>
          <a:bodyPr anchor="b"/>
          <a:lstStyle>
            <a:lvl1pPr algn="ctr">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05082A-7C3C-4640-B7FE-7C53B0E7AE9F}" type="datetimeFigureOut">
              <a:rPr lang="en-US" smtClean="0"/>
              <a:t>10/19/2016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3121850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05082A-7C3C-4640-B7FE-7C53B0E7AE9F}" type="datetimeFigureOut">
              <a:rPr lang="en-US" smtClean="0"/>
              <a:t>10/19/2016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3160220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600"/>
            </a:lvl1pPr>
          </a:lstStyle>
          <a:p>
            <a:r>
              <a:rPr lang="en-US" smtClean="0"/>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05082A-7C3C-4640-B7FE-7C53B0E7AE9F}" type="datetimeFigureOut">
              <a:rPr lang="en-US" smtClean="0"/>
              <a:t>10/19/2016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289599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E05082A-7C3C-4640-B7FE-7C53B0E7AE9F}" type="datetimeFigureOut">
              <a:rPr lang="en-US" smtClean="0"/>
              <a:t>10/19/2016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230375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0"/>
            <a:ext cx="8675370" cy="150230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92826" y="1905318"/>
            <a:ext cx="4255174"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2066" y="1905318"/>
            <a:ext cx="4276130"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E05082A-7C3C-4640-B7FE-7C53B0E7AE9F}" type="datetimeFigureOut">
              <a:rPr lang="en-US" smtClean="0"/>
              <a:t>10/19/2016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1740253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E05082A-7C3C-4640-B7FE-7C53B0E7AE9F}" type="datetimeFigureOut">
              <a:rPr lang="en-US" smtClean="0"/>
              <a:t>10/19/2016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1012065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05082A-7C3C-4640-B7FE-7C53B0E7AE9F}" type="datetimeFigureOut">
              <a:rPr lang="en-US" smtClean="0"/>
              <a:t>10/19/2016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118510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smtClean="0"/>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20"/>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05082A-7C3C-4640-B7FE-7C53B0E7AE9F}" type="datetimeFigureOut">
              <a:rPr lang="en-US" smtClean="0"/>
              <a:t>10/19/2016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359991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smtClean="0"/>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05082A-7C3C-4640-B7FE-7C53B0E7AE9F}" type="datetimeFigureOut">
              <a:rPr lang="en-US" smtClean="0"/>
              <a:t>10/19/2016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557151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05082A-7C3C-4640-B7FE-7C53B0E7AE9F}" type="datetimeFigureOut">
              <a:rPr lang="en-US" smtClean="0"/>
              <a:t>10/19/2016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3578772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413808"/>
            <a:ext cx="2168843" cy="65867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05082A-7C3C-4640-B7FE-7C53B0E7AE9F}" type="datetimeFigureOut">
              <a:rPr lang="en-US" smtClean="0"/>
              <a:t>10/19/2016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C2A8E6-A98A-4EBB-8F08-E4717BDE0DAA}" type="slidenum">
              <a:rPr lang="en-US" smtClean="0"/>
              <a:t>‹#›</a:t>
            </a:fld>
            <a:endParaRPr lang="en-US"/>
          </a:p>
        </p:txBody>
      </p:sp>
    </p:spTree>
    <p:extLst>
      <p:ext uri="{BB962C8B-B14F-4D97-AF65-F5344CB8AC3E}">
        <p14:creationId xmlns:p14="http://schemas.microsoft.com/office/powerpoint/2010/main" val="1872371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BE05082A-7C3C-4640-B7FE-7C53B0E7AE9F}" type="datetimeFigureOut">
              <a:rPr lang="en-US" smtClean="0"/>
              <a:t>10/19/2016</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5CC2A8E6-A98A-4EBB-8F08-E4717BDE0DAA}" type="slidenum">
              <a:rPr lang="en-US" smtClean="0"/>
              <a:t>‹#›</a:t>
            </a:fld>
            <a:endParaRPr lang="en-US"/>
          </a:p>
        </p:txBody>
      </p:sp>
    </p:spTree>
    <p:extLst>
      <p:ext uri="{BB962C8B-B14F-4D97-AF65-F5344CB8AC3E}">
        <p14:creationId xmlns:p14="http://schemas.microsoft.com/office/powerpoint/2010/main" val="27465732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latin typeface="Garamond" panose="02020404030301010803" pitchFamily="18" charset="0"/>
              </a:rPr>
              <a:t>Business Analytics Capstone </a:t>
            </a:r>
            <a:br>
              <a:rPr lang="en-US" dirty="0" smtClean="0">
                <a:latin typeface="Garamond" panose="02020404030301010803" pitchFamily="18" charset="0"/>
              </a:rPr>
            </a:br>
            <a:r>
              <a:rPr lang="en-US" dirty="0" smtClean="0">
                <a:latin typeface="Garamond" panose="02020404030301010803" pitchFamily="18" charset="0"/>
              </a:rPr>
              <a:t>Framework for Strategy</a:t>
            </a:r>
            <a:endParaRPr lang="en-US" dirty="0">
              <a:latin typeface="Garamond" panose="02020404030301010803" pitchFamily="18" charset="0"/>
            </a:endParaRPr>
          </a:p>
        </p:txBody>
      </p:sp>
      <p:sp>
        <p:nvSpPr>
          <p:cNvPr id="3" name="Subtitle 2"/>
          <p:cNvSpPr>
            <a:spLocks noGrp="1"/>
          </p:cNvSpPr>
          <p:nvPr>
            <p:ph type="subTitle" idx="1"/>
          </p:nvPr>
        </p:nvSpPr>
        <p:spPr/>
        <p:txBody>
          <a:bodyPr/>
          <a:lstStyle/>
          <a:p>
            <a:r>
              <a:rPr lang="en-US" dirty="0" smtClean="0">
                <a:latin typeface="Garamond" panose="02020404030301010803" pitchFamily="18" charset="0"/>
              </a:rPr>
              <a:t>Jeya Sri R</a:t>
            </a:r>
          </a:p>
          <a:p>
            <a:r>
              <a:rPr lang="en-US" dirty="0" smtClean="0">
                <a:latin typeface="Garamond" panose="02020404030301010803" pitchFamily="18" charset="0"/>
              </a:rPr>
              <a:t>Oct 18, 2016</a:t>
            </a:r>
            <a:endParaRPr lang="en-US" dirty="0">
              <a:latin typeface="Garamond" panose="02020404030301010803"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9826" y="7163710"/>
            <a:ext cx="3657600" cy="442700"/>
          </a:xfrm>
          <a:prstGeom prst="rect">
            <a:avLst/>
          </a:prstGeom>
        </p:spPr>
      </p:pic>
    </p:spTree>
    <p:extLst>
      <p:ext uri="{BB962C8B-B14F-4D97-AF65-F5344CB8AC3E}">
        <p14:creationId xmlns:p14="http://schemas.microsoft.com/office/powerpoint/2010/main" val="1800245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75772" y="2863105"/>
            <a:ext cx="7543800" cy="1876530"/>
          </a:xfrm>
        </p:spPr>
        <p:txBody>
          <a:bodyPr>
            <a:normAutofit/>
          </a:bodyPr>
          <a:lstStyle/>
          <a:p>
            <a:r>
              <a:rPr lang="en-US" sz="4000" dirty="0" smtClean="0">
                <a:latin typeface="Garamond" panose="02020404030301010803" pitchFamily="18" charset="0"/>
              </a:rPr>
              <a:t>Strategy</a:t>
            </a:r>
            <a:endParaRPr lang="en-US" sz="4000" dirty="0">
              <a:latin typeface="Garamond" panose="02020404030301010803"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9826" y="7163710"/>
            <a:ext cx="3657600" cy="442700"/>
          </a:xfrm>
          <a:prstGeom prst="rect">
            <a:avLst/>
          </a:prstGeom>
        </p:spPr>
      </p:pic>
    </p:spTree>
    <p:extLst>
      <p:ext uri="{BB962C8B-B14F-4D97-AF65-F5344CB8AC3E}">
        <p14:creationId xmlns:p14="http://schemas.microsoft.com/office/powerpoint/2010/main" val="34806378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9826" y="7163710"/>
            <a:ext cx="3657600" cy="442700"/>
          </a:xfrm>
          <a:prstGeom prst="rect">
            <a:avLst/>
          </a:prstGeom>
        </p:spPr>
      </p:pic>
      <p:sp>
        <p:nvSpPr>
          <p:cNvPr id="3" name="Title 2"/>
          <p:cNvSpPr>
            <a:spLocks noGrp="1"/>
          </p:cNvSpPr>
          <p:nvPr>
            <p:ph type="title"/>
          </p:nvPr>
        </p:nvSpPr>
        <p:spPr>
          <a:xfrm>
            <a:off x="0" y="-1"/>
            <a:ext cx="10058400" cy="1256145"/>
          </a:xfrm>
          <a:ln>
            <a:solidFill>
              <a:srgbClr val="981E32"/>
            </a:solidFill>
          </a:ln>
        </p:spPr>
        <p:txBody>
          <a:bodyPr>
            <a:normAutofit/>
          </a:bodyPr>
          <a:lstStyle/>
          <a:p>
            <a:pPr>
              <a:lnSpc>
                <a:spcPct val="100000"/>
              </a:lnSpc>
              <a:spcBef>
                <a:spcPts val="0"/>
              </a:spcBef>
            </a:pPr>
            <a:r>
              <a:rPr lang="en-US" sz="3600" dirty="0" smtClean="0">
                <a:latin typeface="Garamond" panose="02020404030301010803" pitchFamily="18" charset="0"/>
              </a:rPr>
              <a:t>Strategy</a:t>
            </a:r>
            <a:br>
              <a:rPr lang="en-US" sz="3600" dirty="0" smtClean="0">
                <a:latin typeface="Garamond" panose="02020404030301010803" pitchFamily="18" charset="0"/>
              </a:rPr>
            </a:br>
            <a:r>
              <a:rPr lang="en-US" sz="1800" dirty="0" smtClean="0">
                <a:latin typeface="Garamond" panose="02020404030301010803" pitchFamily="18" charset="0"/>
              </a:rPr>
              <a:t>Describe your proposed strategy </a:t>
            </a:r>
            <a:endParaRPr lang="en-US" sz="1800" dirty="0">
              <a:latin typeface="Garamond" panose="02020404030301010803" pitchFamily="18" charset="0"/>
            </a:endParaRPr>
          </a:p>
        </p:txBody>
      </p:sp>
      <p:sp>
        <p:nvSpPr>
          <p:cNvPr id="4" name="Content Placeholder 3"/>
          <p:cNvSpPr>
            <a:spLocks noGrp="1"/>
          </p:cNvSpPr>
          <p:nvPr>
            <p:ph idx="1"/>
          </p:nvPr>
        </p:nvSpPr>
        <p:spPr>
          <a:xfrm>
            <a:off x="0" y="1256145"/>
            <a:ext cx="10058400" cy="5781964"/>
          </a:xfrm>
        </p:spPr>
        <p:txBody>
          <a:bodyPr>
            <a:noAutofit/>
          </a:bodyPr>
          <a:lstStyle/>
          <a:p>
            <a:pPr marL="0" indent="0" algn="ctr">
              <a:lnSpc>
                <a:spcPct val="100000"/>
              </a:lnSpc>
              <a:spcBef>
                <a:spcPts val="0"/>
              </a:spcBef>
              <a:buNone/>
            </a:pPr>
            <a:r>
              <a:rPr lang="en-US" sz="2400" b="1" i="1" dirty="0" smtClean="0">
                <a:latin typeface="Garamond" panose="02020404030301010803" pitchFamily="18" charset="0"/>
              </a:rPr>
              <a:t>My strategy would </a:t>
            </a:r>
            <a:r>
              <a:rPr lang="en-US" sz="2400" b="1" i="1" dirty="0">
                <a:latin typeface="Garamond" panose="02020404030301010803" pitchFamily="18" charset="0"/>
              </a:rPr>
              <a:t>be </a:t>
            </a:r>
            <a:r>
              <a:rPr lang="en-US" sz="2400" b="1" i="1" dirty="0" smtClean="0">
                <a:latin typeface="Garamond" panose="02020404030301010803" pitchFamily="18" charset="0"/>
              </a:rPr>
              <a:t>to opt native advertising for GYF portal and come up with an analytic tool for it respectively. </a:t>
            </a: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r>
              <a:rPr lang="en-US" sz="2400" i="1" dirty="0" smtClean="0">
                <a:latin typeface="Garamond" panose="02020404030301010803" pitchFamily="18" charset="0"/>
              </a:rPr>
              <a:t>On organization level, I need to hire a new DATA team leader. The team responsible to selling ad-space and incorporating them into the portal will need additional skill training to opt the new advertising technique. A separate team will be formed to educate the ad-buyers on the native advertising technique. The existing marketing strategies will be amended with new end-user reach-out modes. The trend of ad-blocking </a:t>
            </a:r>
            <a:r>
              <a:rPr lang="en-US" sz="2400" i="1" dirty="0">
                <a:latin typeface="Garamond" panose="02020404030301010803" pitchFamily="18" charset="0"/>
              </a:rPr>
              <a:t>on hardware and software level </a:t>
            </a:r>
            <a:r>
              <a:rPr lang="en-US" sz="2400" i="1" dirty="0" smtClean="0">
                <a:latin typeface="Garamond" panose="02020404030301010803" pitchFamily="18" charset="0"/>
              </a:rPr>
              <a:t>will be constantly monitored for constant upgrading of strategies.</a:t>
            </a: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r>
              <a:rPr lang="en-US" sz="2400" i="1" dirty="0">
                <a:latin typeface="Garamond" panose="02020404030301010803" pitchFamily="18" charset="0"/>
              </a:rPr>
              <a:t>On customer level, A/B </a:t>
            </a:r>
            <a:r>
              <a:rPr lang="en-US" sz="2400" i="1" dirty="0" smtClean="0">
                <a:latin typeface="Garamond" panose="02020404030301010803" pitchFamily="18" charset="0"/>
              </a:rPr>
              <a:t>Testing. Social </a:t>
            </a:r>
            <a:r>
              <a:rPr lang="en-US" sz="2400" i="1" dirty="0">
                <a:latin typeface="Garamond" panose="02020404030301010803" pitchFamily="18" charset="0"/>
              </a:rPr>
              <a:t>Media </a:t>
            </a:r>
            <a:r>
              <a:rPr lang="en-US" sz="2400" i="1" dirty="0" smtClean="0">
                <a:latin typeface="Garamond" panose="02020404030301010803" pitchFamily="18" charset="0"/>
              </a:rPr>
              <a:t>Analytics, Mobile </a:t>
            </a:r>
            <a:r>
              <a:rPr lang="en-US" sz="2400" i="1" dirty="0">
                <a:latin typeface="Garamond" panose="02020404030301010803" pitchFamily="18" charset="0"/>
              </a:rPr>
              <a:t>Data </a:t>
            </a:r>
            <a:r>
              <a:rPr lang="en-US" sz="2400" i="1" dirty="0" smtClean="0">
                <a:latin typeface="Garamond" panose="02020404030301010803" pitchFamily="18" charset="0"/>
              </a:rPr>
              <a:t>Analytics will have to be performed in-order to make sure we have ZERO negative user reaction towards native advertisement. </a:t>
            </a: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r>
              <a:rPr lang="en-US" sz="2400" i="1" dirty="0" smtClean="0">
                <a:latin typeface="Garamond" panose="02020404030301010803" pitchFamily="18" charset="0"/>
              </a:rPr>
              <a:t>On financial level, the analytical tool and its reports are to be provided free of cost to the ad-buyers thereby gaining their trust towards our native advertisement. </a:t>
            </a:r>
            <a:endParaRPr lang="en-US" sz="2400" i="1" dirty="0">
              <a:latin typeface="Garamond" panose="02020404030301010803" pitchFamily="18" charset="0"/>
            </a:endParaRPr>
          </a:p>
          <a:p>
            <a:pPr marL="0" indent="0">
              <a:lnSpc>
                <a:spcPct val="100000"/>
              </a:lnSpc>
              <a:spcBef>
                <a:spcPts val="0"/>
              </a:spcBef>
              <a:buNone/>
            </a:pPr>
            <a:endParaRPr lang="en-US" sz="2400" i="1" dirty="0" smtClean="0">
              <a:latin typeface="Garamond" panose="02020404030301010803" pitchFamily="18" charset="0"/>
            </a:endParaRPr>
          </a:p>
          <a:p>
            <a:pPr marL="0" indent="0">
              <a:lnSpc>
                <a:spcPct val="100000"/>
              </a:lnSpc>
              <a:spcBef>
                <a:spcPts val="0"/>
              </a:spcBef>
              <a:buNone/>
            </a:pPr>
            <a:endParaRPr lang="en-US" sz="2400" i="1" dirty="0">
              <a:latin typeface="Garamond" panose="02020404030301010803" pitchFamily="18" charset="0"/>
            </a:endParaRPr>
          </a:p>
        </p:txBody>
      </p:sp>
    </p:spTree>
    <p:extLst>
      <p:ext uri="{BB962C8B-B14F-4D97-AF65-F5344CB8AC3E}">
        <p14:creationId xmlns:p14="http://schemas.microsoft.com/office/powerpoint/2010/main" val="555201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9826" y="7163710"/>
            <a:ext cx="3657600" cy="442700"/>
          </a:xfrm>
          <a:prstGeom prst="rect">
            <a:avLst/>
          </a:prstGeom>
        </p:spPr>
      </p:pic>
      <p:sp>
        <p:nvSpPr>
          <p:cNvPr id="3" name="Title 2"/>
          <p:cNvSpPr>
            <a:spLocks noGrp="1"/>
          </p:cNvSpPr>
          <p:nvPr>
            <p:ph type="title"/>
          </p:nvPr>
        </p:nvSpPr>
        <p:spPr>
          <a:xfrm>
            <a:off x="0" y="-1"/>
            <a:ext cx="10058400" cy="1256145"/>
          </a:xfrm>
          <a:ln>
            <a:solidFill>
              <a:srgbClr val="981E32"/>
            </a:solidFill>
          </a:ln>
        </p:spPr>
        <p:txBody>
          <a:bodyPr>
            <a:normAutofit/>
          </a:bodyPr>
          <a:lstStyle/>
          <a:p>
            <a:pPr>
              <a:lnSpc>
                <a:spcPct val="100000"/>
              </a:lnSpc>
              <a:spcBef>
                <a:spcPts val="0"/>
              </a:spcBef>
            </a:pPr>
            <a:r>
              <a:rPr lang="en-US" sz="3600" dirty="0" smtClean="0">
                <a:latin typeface="Garamond" panose="02020404030301010803" pitchFamily="18" charset="0"/>
              </a:rPr>
              <a:t>Strategy</a:t>
            </a:r>
            <a:br>
              <a:rPr lang="en-US" sz="3600" dirty="0" smtClean="0">
                <a:latin typeface="Garamond" panose="02020404030301010803" pitchFamily="18" charset="0"/>
              </a:rPr>
            </a:br>
            <a:r>
              <a:rPr lang="en-US" sz="1800" dirty="0" smtClean="0">
                <a:latin typeface="Garamond" panose="02020404030301010803" pitchFamily="18" charset="0"/>
              </a:rPr>
              <a:t>Describe your proposed strategy </a:t>
            </a:r>
            <a:endParaRPr lang="en-US" sz="1800" dirty="0">
              <a:latin typeface="Garamond" panose="02020404030301010803" pitchFamily="18" charset="0"/>
            </a:endParaRPr>
          </a:p>
        </p:txBody>
      </p:sp>
      <p:sp>
        <p:nvSpPr>
          <p:cNvPr id="4" name="Content Placeholder 3"/>
          <p:cNvSpPr>
            <a:spLocks noGrp="1"/>
          </p:cNvSpPr>
          <p:nvPr>
            <p:ph idx="1"/>
          </p:nvPr>
        </p:nvSpPr>
        <p:spPr>
          <a:xfrm>
            <a:off x="0" y="1256145"/>
            <a:ext cx="10058400" cy="5781964"/>
          </a:xfrm>
        </p:spPr>
        <p:txBody>
          <a:bodyPr>
            <a:noAutofit/>
          </a:bodyPr>
          <a:lstStyle/>
          <a:p>
            <a:pPr marL="0" indent="0">
              <a:lnSpc>
                <a:spcPct val="100000"/>
              </a:lnSpc>
              <a:spcBef>
                <a:spcPts val="0"/>
              </a:spcBef>
              <a:buNone/>
            </a:pPr>
            <a:r>
              <a:rPr lang="en-US" sz="2400" i="1" dirty="0" smtClean="0">
                <a:latin typeface="Garamond" panose="02020404030301010803" pitchFamily="18" charset="0"/>
              </a:rPr>
              <a:t>On operational level, we will monitor the reach, frequency, impact and click through rates for the native advertisements. The engagement level of the content will be monitored on a separate scale so that the user experience stays positive. </a:t>
            </a: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r>
              <a:rPr lang="en-US" sz="2400" i="1" dirty="0" smtClean="0">
                <a:latin typeface="Garamond" panose="02020404030301010803" pitchFamily="18" charset="0"/>
              </a:rPr>
              <a:t>The areas where we are will be concentrating native advertisements are Search, Display and Classified ads. As videos wil</a:t>
            </a:r>
            <a:r>
              <a:rPr lang="en-US" sz="2400" i="1" dirty="0" smtClean="0">
                <a:latin typeface="Garamond" panose="02020404030301010803" pitchFamily="18" charset="0"/>
              </a:rPr>
              <a:t>l be the most opted advertisement medium in upcoming years, we will go for content stitching where we the advertisements and the videos are stitched together. Here the standards will be set for such ad-buying so that the user experience is not affected. </a:t>
            </a: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r>
              <a:rPr lang="en-US" sz="2400" i="1" dirty="0" smtClean="0">
                <a:latin typeface="Garamond" panose="02020404030301010803" pitchFamily="18" charset="0"/>
              </a:rPr>
              <a:t>The reason why we come up with a separate analytic tool is, ad-blockers usually blocks the cookie and hence the tracking by third party becomes difficult. More emphasis will be given to reduce page loading time and the bandwidth in native advertisements. </a:t>
            </a: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endParaRPr lang="en-US" sz="2400" i="1" dirty="0">
              <a:latin typeface="Garamond" panose="02020404030301010803" pitchFamily="18" charset="0"/>
            </a:endParaRPr>
          </a:p>
        </p:txBody>
      </p:sp>
    </p:spTree>
    <p:extLst>
      <p:ext uri="{BB962C8B-B14F-4D97-AF65-F5344CB8AC3E}">
        <p14:creationId xmlns:p14="http://schemas.microsoft.com/office/powerpoint/2010/main" val="21134485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9826" y="7163710"/>
            <a:ext cx="3657600" cy="442700"/>
          </a:xfrm>
          <a:prstGeom prst="rect">
            <a:avLst/>
          </a:prstGeom>
        </p:spPr>
      </p:pic>
      <p:sp>
        <p:nvSpPr>
          <p:cNvPr id="3" name="Title 2"/>
          <p:cNvSpPr>
            <a:spLocks noGrp="1"/>
          </p:cNvSpPr>
          <p:nvPr>
            <p:ph type="title"/>
          </p:nvPr>
        </p:nvSpPr>
        <p:spPr>
          <a:xfrm>
            <a:off x="0" y="-1"/>
            <a:ext cx="10058400" cy="1256145"/>
          </a:xfrm>
          <a:ln>
            <a:solidFill>
              <a:srgbClr val="981E32"/>
            </a:solidFill>
          </a:ln>
        </p:spPr>
        <p:txBody>
          <a:bodyPr>
            <a:normAutofit/>
          </a:bodyPr>
          <a:lstStyle/>
          <a:p>
            <a:pPr>
              <a:lnSpc>
                <a:spcPct val="100000"/>
              </a:lnSpc>
              <a:spcBef>
                <a:spcPts val="0"/>
              </a:spcBef>
            </a:pPr>
            <a:r>
              <a:rPr lang="en-US" sz="3600" dirty="0" smtClean="0">
                <a:latin typeface="Garamond" panose="02020404030301010803" pitchFamily="18" charset="0"/>
              </a:rPr>
              <a:t>Strategy</a:t>
            </a:r>
            <a:br>
              <a:rPr lang="en-US" sz="3600" dirty="0" smtClean="0">
                <a:latin typeface="Garamond" panose="02020404030301010803" pitchFamily="18" charset="0"/>
              </a:rPr>
            </a:br>
            <a:r>
              <a:rPr lang="en-US" sz="1800" dirty="0" smtClean="0">
                <a:latin typeface="Garamond" panose="02020404030301010803" pitchFamily="18" charset="0"/>
              </a:rPr>
              <a:t>Describe your proposed strategy </a:t>
            </a:r>
            <a:endParaRPr lang="en-US" sz="1800" dirty="0">
              <a:latin typeface="Garamond" panose="02020404030301010803" pitchFamily="18" charset="0"/>
            </a:endParaRPr>
          </a:p>
        </p:txBody>
      </p:sp>
      <p:sp>
        <p:nvSpPr>
          <p:cNvPr id="4" name="Content Placeholder 3"/>
          <p:cNvSpPr>
            <a:spLocks noGrp="1"/>
          </p:cNvSpPr>
          <p:nvPr>
            <p:ph idx="1"/>
          </p:nvPr>
        </p:nvSpPr>
        <p:spPr>
          <a:xfrm>
            <a:off x="0" y="1256145"/>
            <a:ext cx="10058400" cy="5781964"/>
          </a:xfrm>
        </p:spPr>
        <p:txBody>
          <a:bodyPr>
            <a:noAutofit/>
          </a:bodyPr>
          <a:lstStyle/>
          <a:p>
            <a:pPr marL="0" indent="0">
              <a:lnSpc>
                <a:spcPct val="100000"/>
              </a:lnSpc>
              <a:spcBef>
                <a:spcPts val="0"/>
              </a:spcBef>
              <a:buNone/>
            </a:pPr>
            <a:r>
              <a:rPr lang="en-US" sz="2400" i="1" dirty="0" smtClean="0">
                <a:latin typeface="Garamond" panose="02020404030301010803" pitchFamily="18" charset="0"/>
              </a:rPr>
              <a:t>PROBABLE PROBLEMS </a:t>
            </a:r>
          </a:p>
          <a:p>
            <a:pPr marL="0" indent="0">
              <a:lnSpc>
                <a:spcPct val="100000"/>
              </a:lnSpc>
              <a:spcBef>
                <a:spcPts val="0"/>
              </a:spcBef>
              <a:buNone/>
            </a:pPr>
            <a:r>
              <a:rPr lang="en-US" sz="2400" i="1" dirty="0" smtClean="0">
                <a:latin typeface="Garamond" panose="02020404030301010803" pitchFamily="18" charset="0"/>
              </a:rPr>
              <a:t>Case 1: The end-user/ the associated company already uses ad-blocker</a:t>
            </a:r>
          </a:p>
          <a:p>
            <a:pPr>
              <a:lnSpc>
                <a:spcPct val="100000"/>
              </a:lnSpc>
              <a:spcBef>
                <a:spcPts val="0"/>
              </a:spcBef>
            </a:pPr>
            <a:r>
              <a:rPr lang="en-US" sz="2400" i="1" dirty="0" smtClean="0">
                <a:latin typeface="Garamond" panose="02020404030301010803" pitchFamily="18" charset="0"/>
              </a:rPr>
              <a:t>Cookie tracking and other third party measurement tools will remain blocked.</a:t>
            </a:r>
          </a:p>
          <a:p>
            <a:pPr marL="0" indent="0">
              <a:lnSpc>
                <a:spcPct val="100000"/>
              </a:lnSpc>
              <a:spcBef>
                <a:spcPts val="0"/>
              </a:spcBef>
              <a:buNone/>
            </a:pPr>
            <a:r>
              <a:rPr lang="en-US" sz="2400" i="1" dirty="0">
                <a:latin typeface="Garamond" panose="02020404030301010803" pitchFamily="18" charset="0"/>
              </a:rPr>
              <a:t>	</a:t>
            </a:r>
            <a:r>
              <a:rPr lang="en-US" sz="2400" i="1" dirty="0" smtClean="0">
                <a:latin typeface="Garamond" panose="02020404030301010803" pitchFamily="18" charset="0"/>
              </a:rPr>
              <a:t>Solution – Using GYF’s analytic tool at free of cost</a:t>
            </a:r>
          </a:p>
          <a:p>
            <a:pPr>
              <a:lnSpc>
                <a:spcPct val="100000"/>
              </a:lnSpc>
              <a:spcBef>
                <a:spcPts val="0"/>
              </a:spcBef>
            </a:pPr>
            <a:r>
              <a:rPr lang="en-US" sz="2400" i="1" dirty="0" smtClean="0">
                <a:latin typeface="Garamond" panose="02020404030301010803" pitchFamily="18" charset="0"/>
              </a:rPr>
              <a:t>Some of the native advertisements may be blocked in ad-blocker. </a:t>
            </a:r>
          </a:p>
          <a:p>
            <a:pPr marL="0" indent="0">
              <a:lnSpc>
                <a:spcPct val="100000"/>
              </a:lnSpc>
              <a:spcBef>
                <a:spcPts val="0"/>
              </a:spcBef>
              <a:buNone/>
            </a:pPr>
            <a:r>
              <a:rPr lang="en-US" sz="2400" i="1" dirty="0" smtClean="0">
                <a:latin typeface="Garamond" panose="02020404030301010803" pitchFamily="18" charset="0"/>
              </a:rPr>
              <a:t>	Solution - In-case of detecting an ad-blocker, the end-user can be urged to turn-off the 	ad-blocker to experience a engaging environment. </a:t>
            </a:r>
          </a:p>
          <a:p>
            <a:pPr>
              <a:lnSpc>
                <a:spcPct val="100000"/>
              </a:lnSpc>
              <a:spcBef>
                <a:spcPts val="0"/>
              </a:spcBef>
            </a:pPr>
            <a:r>
              <a:rPr lang="en-US" sz="2400" i="1" dirty="0" smtClean="0">
                <a:latin typeface="Garamond" panose="02020404030301010803" pitchFamily="18" charset="0"/>
              </a:rPr>
              <a:t>Incases where the organization has installed ad-blocker in its network, none of the end-users associated with it can turn it off.</a:t>
            </a:r>
          </a:p>
          <a:p>
            <a:pPr marL="0" indent="0">
              <a:lnSpc>
                <a:spcPct val="100000"/>
              </a:lnSpc>
              <a:spcBef>
                <a:spcPts val="0"/>
              </a:spcBef>
              <a:buNone/>
            </a:pPr>
            <a:r>
              <a:rPr lang="en-US" sz="2400" i="1" dirty="0">
                <a:latin typeface="Garamond" panose="02020404030301010803" pitchFamily="18" charset="0"/>
              </a:rPr>
              <a:t>	</a:t>
            </a:r>
            <a:r>
              <a:rPr lang="en-US" sz="2400" i="1" dirty="0" smtClean="0">
                <a:latin typeface="Garamond" panose="02020404030301010803" pitchFamily="18" charset="0"/>
              </a:rPr>
              <a:t>Solution - NIL</a:t>
            </a:r>
            <a:r>
              <a:rPr lang="en-US" sz="1960" i="1" dirty="0" smtClean="0">
                <a:latin typeface="Garamond" panose="02020404030301010803" pitchFamily="18" charset="0"/>
              </a:rPr>
              <a:t> </a:t>
            </a:r>
          </a:p>
          <a:p>
            <a:pPr marL="0" indent="0">
              <a:lnSpc>
                <a:spcPct val="100000"/>
              </a:lnSpc>
              <a:spcBef>
                <a:spcPts val="0"/>
              </a:spcBef>
              <a:buNone/>
            </a:pPr>
            <a:endParaRPr lang="en-US" sz="1960" i="1" dirty="0" smtClean="0">
              <a:latin typeface="Garamond" panose="02020404030301010803" pitchFamily="18" charset="0"/>
            </a:endParaRPr>
          </a:p>
          <a:p>
            <a:pPr marL="0" indent="0">
              <a:lnSpc>
                <a:spcPct val="100000"/>
              </a:lnSpc>
              <a:spcBef>
                <a:spcPts val="0"/>
              </a:spcBef>
              <a:buNone/>
            </a:pPr>
            <a:r>
              <a:rPr lang="en-US" sz="2400" i="1" dirty="0">
                <a:latin typeface="Garamond" panose="02020404030301010803" pitchFamily="18" charset="0"/>
              </a:rPr>
              <a:t>Case </a:t>
            </a:r>
            <a:r>
              <a:rPr lang="en-US" sz="2400" i="1" dirty="0" smtClean="0">
                <a:latin typeface="Garamond" panose="02020404030301010803" pitchFamily="18" charset="0"/>
              </a:rPr>
              <a:t>2: </a:t>
            </a:r>
            <a:r>
              <a:rPr lang="en-US" sz="2400" i="1" dirty="0">
                <a:latin typeface="Garamond" panose="02020404030301010803" pitchFamily="18" charset="0"/>
              </a:rPr>
              <a:t>The </a:t>
            </a:r>
            <a:r>
              <a:rPr lang="en-US" sz="2400" i="1" dirty="0" smtClean="0">
                <a:latin typeface="Garamond" panose="02020404030301010803" pitchFamily="18" charset="0"/>
              </a:rPr>
              <a:t>end-user doesn’t have ad-blocker</a:t>
            </a:r>
          </a:p>
          <a:p>
            <a:pPr>
              <a:lnSpc>
                <a:spcPct val="100000"/>
              </a:lnSpc>
              <a:spcBef>
                <a:spcPts val="0"/>
              </a:spcBef>
            </a:pPr>
            <a:r>
              <a:rPr lang="en-US" sz="2400" i="1" dirty="0" smtClean="0">
                <a:latin typeface="Garamond" panose="02020404030301010803" pitchFamily="18" charset="0"/>
              </a:rPr>
              <a:t>The end-user may install ad-blocker anytime</a:t>
            </a:r>
          </a:p>
          <a:p>
            <a:pPr marL="0" indent="0">
              <a:lnSpc>
                <a:spcPct val="100000"/>
              </a:lnSpc>
              <a:spcBef>
                <a:spcPts val="0"/>
              </a:spcBef>
              <a:buNone/>
            </a:pPr>
            <a:r>
              <a:rPr lang="en-US" sz="2400" i="1" dirty="0">
                <a:latin typeface="Garamond" panose="02020404030301010803" pitchFamily="18" charset="0"/>
              </a:rPr>
              <a:t>	</a:t>
            </a:r>
            <a:r>
              <a:rPr lang="en-US" sz="2400" i="1" dirty="0" smtClean="0">
                <a:latin typeface="Garamond" panose="02020404030301010803" pitchFamily="18" charset="0"/>
              </a:rPr>
              <a:t>Solution – Make sure the native advertisements are customer experience focused and doesn’t compromise </a:t>
            </a:r>
            <a:r>
              <a:rPr lang="en-US" sz="2400" i="1" dirty="0">
                <a:latin typeface="Garamond" panose="02020404030301010803" pitchFamily="18" charset="0"/>
              </a:rPr>
              <a:t>their </a:t>
            </a:r>
            <a:r>
              <a:rPr lang="en-US" sz="2400" i="1" dirty="0" smtClean="0">
                <a:latin typeface="Garamond" panose="02020404030301010803" pitchFamily="18" charset="0"/>
              </a:rPr>
              <a:t>content enjoyment. </a:t>
            </a:r>
            <a:r>
              <a:rPr lang="en-US" sz="2400" i="1" dirty="0" err="1" smtClean="0">
                <a:latin typeface="Garamond" panose="02020404030301010803" pitchFamily="18" charset="0"/>
              </a:rPr>
              <a:t>i.e</a:t>
            </a:r>
            <a:r>
              <a:rPr lang="en-US" sz="2400" i="1" dirty="0" smtClean="0">
                <a:latin typeface="Garamond" panose="02020404030301010803" pitchFamily="18" charset="0"/>
              </a:rPr>
              <a:t> balancing content and advertisement.</a:t>
            </a:r>
            <a:endParaRPr lang="en-US" sz="2400" i="1" dirty="0">
              <a:latin typeface="Garamond" panose="02020404030301010803" pitchFamily="18" charset="0"/>
            </a:endParaRPr>
          </a:p>
          <a:p>
            <a:pPr>
              <a:lnSpc>
                <a:spcPct val="100000"/>
              </a:lnSpc>
              <a:spcBef>
                <a:spcPts val="0"/>
              </a:spcBef>
            </a:pPr>
            <a:endParaRPr lang="en-US" sz="2400" i="1" dirty="0" smtClean="0">
              <a:latin typeface="Garamond" panose="02020404030301010803" pitchFamily="18" charset="0"/>
            </a:endParaRPr>
          </a:p>
          <a:p>
            <a:pPr marL="0" indent="0">
              <a:lnSpc>
                <a:spcPct val="100000"/>
              </a:lnSpc>
              <a:spcBef>
                <a:spcPts val="0"/>
              </a:spcBef>
              <a:buNone/>
            </a:pPr>
            <a:endParaRPr lang="en-US" sz="2400" i="1" dirty="0">
              <a:latin typeface="Garamond" panose="02020404030301010803" pitchFamily="18" charset="0"/>
            </a:endParaRPr>
          </a:p>
          <a:p>
            <a:pPr marL="0" indent="0">
              <a:lnSpc>
                <a:spcPct val="100000"/>
              </a:lnSpc>
              <a:spcBef>
                <a:spcPts val="0"/>
              </a:spcBef>
              <a:buNone/>
            </a:pPr>
            <a:endParaRPr lang="en-US" sz="2400" i="1" dirty="0">
              <a:latin typeface="Garamond" panose="02020404030301010803" pitchFamily="18" charset="0"/>
            </a:endParaRPr>
          </a:p>
        </p:txBody>
      </p:sp>
    </p:spTree>
    <p:extLst>
      <p:ext uri="{BB962C8B-B14F-4D97-AF65-F5344CB8AC3E}">
        <p14:creationId xmlns:p14="http://schemas.microsoft.com/office/powerpoint/2010/main" val="10310786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9826" y="7163710"/>
            <a:ext cx="3657600" cy="442700"/>
          </a:xfrm>
          <a:prstGeom prst="rect">
            <a:avLst/>
          </a:prstGeom>
        </p:spPr>
      </p:pic>
      <p:sp>
        <p:nvSpPr>
          <p:cNvPr id="3" name="Title 2"/>
          <p:cNvSpPr>
            <a:spLocks noGrp="1"/>
          </p:cNvSpPr>
          <p:nvPr>
            <p:ph type="title"/>
          </p:nvPr>
        </p:nvSpPr>
        <p:spPr>
          <a:xfrm>
            <a:off x="0" y="-1"/>
            <a:ext cx="10058400" cy="1256145"/>
          </a:xfrm>
          <a:ln>
            <a:solidFill>
              <a:srgbClr val="981E32"/>
            </a:solidFill>
          </a:ln>
        </p:spPr>
        <p:txBody>
          <a:bodyPr>
            <a:normAutofit/>
          </a:bodyPr>
          <a:lstStyle/>
          <a:p>
            <a:pPr>
              <a:lnSpc>
                <a:spcPct val="100000"/>
              </a:lnSpc>
              <a:spcBef>
                <a:spcPts val="0"/>
              </a:spcBef>
            </a:pPr>
            <a:r>
              <a:rPr lang="en-US" sz="3600" dirty="0" smtClean="0">
                <a:latin typeface="Garamond" panose="02020404030301010803" pitchFamily="18" charset="0"/>
              </a:rPr>
              <a:t>Strategy</a:t>
            </a:r>
            <a:br>
              <a:rPr lang="en-US" sz="3600" dirty="0" smtClean="0">
                <a:latin typeface="Garamond" panose="02020404030301010803" pitchFamily="18" charset="0"/>
              </a:rPr>
            </a:br>
            <a:r>
              <a:rPr lang="en-US" sz="1800" i="1" dirty="0" smtClean="0">
                <a:latin typeface="Garamond" panose="02020404030301010803" pitchFamily="18" charset="0"/>
              </a:rPr>
              <a:t>Application Exercise 2 – Hiring a Team Leader (Optional)</a:t>
            </a:r>
            <a:endParaRPr lang="en-US" sz="1800" i="1" dirty="0">
              <a:latin typeface="Garamond" panose="02020404030301010803" pitchFamily="18" charset="0"/>
            </a:endParaRPr>
          </a:p>
        </p:txBody>
      </p:sp>
      <p:sp>
        <p:nvSpPr>
          <p:cNvPr id="4" name="Content Placeholder 3"/>
          <p:cNvSpPr>
            <a:spLocks noGrp="1"/>
          </p:cNvSpPr>
          <p:nvPr>
            <p:ph idx="1"/>
          </p:nvPr>
        </p:nvSpPr>
        <p:spPr>
          <a:xfrm>
            <a:off x="0" y="1256145"/>
            <a:ext cx="10058400" cy="5781964"/>
          </a:xfrm>
        </p:spPr>
        <p:txBody>
          <a:bodyPr>
            <a:noAutofit/>
          </a:bodyPr>
          <a:lstStyle/>
          <a:p>
            <a:pPr marL="0" indent="0">
              <a:lnSpc>
                <a:spcPct val="100000"/>
              </a:lnSpc>
              <a:spcBef>
                <a:spcPts val="0"/>
              </a:spcBef>
              <a:buNone/>
            </a:pPr>
            <a:endParaRPr lang="en-US" sz="2400" i="1" dirty="0" smtClean="0">
              <a:latin typeface="Garamond" panose="02020404030301010803" pitchFamily="18" charset="0"/>
            </a:endParaRPr>
          </a:p>
          <a:p>
            <a:pPr marL="0" indent="0">
              <a:lnSpc>
                <a:spcPct val="100000"/>
              </a:lnSpc>
              <a:spcBef>
                <a:spcPts val="0"/>
              </a:spcBef>
              <a:buNone/>
            </a:pPr>
            <a:r>
              <a:rPr lang="en-US" sz="2400" i="1" dirty="0" smtClean="0">
                <a:latin typeface="Garamond" panose="02020404030301010803" pitchFamily="18" charset="0"/>
              </a:rPr>
              <a:t>PEGGY PROSPECT</a:t>
            </a:r>
          </a:p>
          <a:p>
            <a:pPr>
              <a:lnSpc>
                <a:spcPct val="100000"/>
              </a:lnSpc>
              <a:spcBef>
                <a:spcPts val="0"/>
              </a:spcBef>
            </a:pPr>
            <a:endParaRPr lang="en-US" sz="2400" i="1" dirty="0">
              <a:latin typeface="Garamond" panose="02020404030301010803" pitchFamily="18" charset="0"/>
            </a:endParaRPr>
          </a:p>
          <a:p>
            <a:pPr marL="0" indent="0">
              <a:lnSpc>
                <a:spcPct val="100000"/>
              </a:lnSpc>
              <a:spcBef>
                <a:spcPts val="0"/>
              </a:spcBef>
              <a:buNone/>
            </a:pPr>
            <a:r>
              <a:rPr lang="en-US" sz="2400" i="1" dirty="0" smtClean="0">
                <a:latin typeface="Garamond" panose="02020404030301010803" pitchFamily="18" charset="0"/>
              </a:rPr>
              <a:t>Reasons why Peggy prospect will be a better choice</a:t>
            </a:r>
          </a:p>
          <a:p>
            <a:pPr>
              <a:lnSpc>
                <a:spcPct val="100000"/>
              </a:lnSpc>
              <a:spcBef>
                <a:spcPts val="0"/>
              </a:spcBef>
            </a:pPr>
            <a:r>
              <a:rPr lang="en-US" sz="2400" i="1" dirty="0" smtClean="0">
                <a:latin typeface="Garamond" panose="02020404030301010803" pitchFamily="18" charset="0"/>
              </a:rPr>
              <a:t>Prior work experience &amp; deep knowledge in ad-selling field. This shows she knows the industry trends.</a:t>
            </a:r>
          </a:p>
          <a:p>
            <a:pPr>
              <a:lnSpc>
                <a:spcPct val="100000"/>
              </a:lnSpc>
              <a:spcBef>
                <a:spcPts val="0"/>
              </a:spcBef>
            </a:pPr>
            <a:r>
              <a:rPr lang="en-US" sz="2400" i="1" dirty="0" smtClean="0">
                <a:latin typeface="Garamond" panose="02020404030301010803" pitchFamily="18" charset="0"/>
              </a:rPr>
              <a:t>Personality matches with DATA team. This makes it easy to get the team aligned.</a:t>
            </a:r>
          </a:p>
          <a:p>
            <a:pPr>
              <a:lnSpc>
                <a:spcPct val="100000"/>
              </a:lnSpc>
              <a:spcBef>
                <a:spcPts val="0"/>
              </a:spcBef>
            </a:pPr>
            <a:r>
              <a:rPr lang="en-US" sz="2400" i="1" dirty="0" smtClean="0">
                <a:latin typeface="Garamond" panose="02020404030301010803" pitchFamily="18" charset="0"/>
              </a:rPr>
              <a:t>Good job knowledge. This reduces the time to get used to the new role and responsibilities.  </a:t>
            </a:r>
          </a:p>
          <a:p>
            <a:pPr>
              <a:lnSpc>
                <a:spcPct val="100000"/>
              </a:lnSpc>
              <a:spcBef>
                <a:spcPts val="0"/>
              </a:spcBef>
            </a:pPr>
            <a:r>
              <a:rPr lang="en-US" sz="2400" i="1" dirty="0" smtClean="0">
                <a:latin typeface="Garamond" panose="02020404030301010803" pitchFamily="18" charset="0"/>
              </a:rPr>
              <a:t>Her focus on short term strategies can be changed in the coming days. </a:t>
            </a:r>
          </a:p>
          <a:p>
            <a:pPr>
              <a:lnSpc>
                <a:spcPct val="100000"/>
              </a:lnSpc>
              <a:spcBef>
                <a:spcPts val="0"/>
              </a:spcBef>
            </a:pPr>
            <a:endParaRPr lang="en-US" sz="2400" i="1" dirty="0" smtClean="0">
              <a:latin typeface="Garamond" panose="02020404030301010803" pitchFamily="18" charset="0"/>
            </a:endParaRPr>
          </a:p>
        </p:txBody>
      </p:sp>
    </p:spTree>
    <p:extLst>
      <p:ext uri="{BB962C8B-B14F-4D97-AF65-F5344CB8AC3E}">
        <p14:creationId xmlns:p14="http://schemas.microsoft.com/office/powerpoint/2010/main" val="4055576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12811</TotalTime>
  <Words>442</Words>
  <Application>Microsoft Office PowerPoint</Application>
  <PresentationFormat>Custom</PresentationFormat>
  <Paragraphs>41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Garamond</vt:lpstr>
      <vt:lpstr>Office Theme</vt:lpstr>
      <vt:lpstr>Business Analytics Capstone  Framework for Strategy</vt:lpstr>
      <vt:lpstr>PowerPoint Presentation</vt:lpstr>
      <vt:lpstr>Strategy Describe your proposed strategy </vt:lpstr>
      <vt:lpstr>Strategy Describe your proposed strategy </vt:lpstr>
      <vt:lpstr>Strategy Describe your proposed strategy </vt:lpstr>
      <vt:lpstr>Strategy Application Exercise 2 – Hiring a Team Leader (Optional)</vt:lpstr>
    </vt:vector>
  </TitlesOfParts>
  <Company>The Wharton School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Miller, Ann</dc:creator>
  <cp:lastModifiedBy>R, Jeya Sri</cp:lastModifiedBy>
  <cp:revision>52</cp:revision>
  <dcterms:created xsi:type="dcterms:W3CDTF">2015-07-31T14:38:13Z</dcterms:created>
  <dcterms:modified xsi:type="dcterms:W3CDTF">2016-10-19T18:14:44Z</dcterms:modified>
</cp:coreProperties>
</file>